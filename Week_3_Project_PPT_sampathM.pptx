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590" y="6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1947"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171463" y="2604247"/>
            <a:ext cx="6875002" cy="2862322"/>
          </a:xfrm>
          <a:prstGeom prst="rect">
            <a:avLst/>
          </a:prstGeom>
          <a:noFill/>
        </p:spPr>
        <p:txBody>
          <a:bodyPr wrap="square" rtlCol="0">
            <a:spAutoFit/>
          </a:bodyPr>
          <a:lstStyle/>
          <a:p>
            <a:pPr algn="r"/>
            <a:r>
              <a:rPr lang="en-US" sz="3600" b="1" dirty="0" err="1">
                <a:solidFill>
                  <a:schemeClr val="tx1"/>
                </a:solidFill>
                <a:latin typeface="Calibri" panose="020F0502020204030204" pitchFamily="34" charset="0"/>
                <a:cs typeface="Times New Roman" panose="02020603050405020304" pitchFamily="18" charset="0"/>
              </a:rPr>
              <a:t>AIEVCompass</a:t>
            </a:r>
            <a:r>
              <a:rPr lang="en-US" sz="3600" b="1" dirty="0">
                <a:solidFill>
                  <a:schemeClr val="tx1"/>
                </a:solidFill>
                <a:latin typeface="Calibri" panose="020F0502020204030204" pitchFamily="34" charset="0"/>
                <a:cs typeface="Times New Roman" panose="02020603050405020304" pitchFamily="18" charset="0"/>
              </a:rPr>
              <a:t> </a:t>
            </a:r>
            <a:r>
              <a:rPr lang="en-US" sz="3600" b="1" dirty="0">
                <a:solidFill>
                  <a:schemeClr val="bg1"/>
                </a:solidFill>
                <a:latin typeface="Calibri" panose="020F0502020204030204" pitchFamily="34" charset="0"/>
                <a:cs typeface="Times New Roman" panose="02020603050405020304" pitchFamily="18" charset="0"/>
              </a:rPr>
              <a:t>- </a:t>
            </a:r>
            <a:r>
              <a:rPr lang="en-US" sz="3600" dirty="0">
                <a:solidFill>
                  <a:schemeClr val="bg1"/>
                </a:solidFill>
                <a:latin typeface="Calibri" panose="020F0502020204030204" pitchFamily="34" charset="0"/>
                <a:cs typeface="Times New Roman" panose="02020603050405020304" pitchFamily="18" charset="0"/>
              </a:rPr>
              <a:t>AI-Powered EV Consultant</a:t>
            </a:r>
          </a:p>
          <a:p>
            <a:pPr algn="r"/>
            <a:endParaRPr lang="en-US" sz="3600" dirty="0">
              <a:solidFill>
                <a:schemeClr val="bg1"/>
              </a:solidFill>
              <a:latin typeface="Calibri" panose="020F0502020204030204" pitchFamily="34" charset="0"/>
              <a:cs typeface="Times New Roman" panose="02020603050405020304" pitchFamily="18" charset="0"/>
            </a:endParaRPr>
          </a:p>
          <a:p>
            <a:pPr marL="571500" indent="-571500" algn="r">
              <a:buFont typeface="Wingdings" panose="05000000000000000000" pitchFamily="2" charset="2"/>
              <a:buChar char="è"/>
            </a:pPr>
            <a:r>
              <a:rPr lang="en-US" sz="3600" dirty="0">
                <a:solidFill>
                  <a:schemeClr val="bg1"/>
                </a:solidFill>
                <a:latin typeface="Calibri" panose="020F0502020204030204" pitchFamily="34" charset="0"/>
                <a:cs typeface="Times New Roman" panose="02020603050405020304" pitchFamily="18" charset="0"/>
              </a:rPr>
              <a:t>Sampath Magapu</a:t>
            </a:r>
          </a:p>
          <a:p>
            <a:pPr algn="r"/>
            <a:r>
              <a:rPr lang="en-US" sz="3600" dirty="0">
                <a:solidFill>
                  <a:schemeClr val="bg1"/>
                </a:solidFill>
                <a:latin typeface="Calibri" panose="020F0502020204030204" pitchFamily="34" charset="0"/>
                <a:cs typeface="Times New Roman" panose="02020603050405020304" pitchFamily="18" charset="0"/>
              </a:rPr>
              <a:t>sampathmagapu11@gmail.com</a:t>
            </a: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9" name="TextBox 8">
            <a:extLst>
              <a:ext uri="{FF2B5EF4-FFF2-40B4-BE49-F238E27FC236}">
                <a16:creationId xmlns:a16="http://schemas.microsoft.com/office/drawing/2014/main" id="{CC72A144-4385-D5FC-162D-D95EE82A9833}"/>
              </a:ext>
            </a:extLst>
          </p:cNvPr>
          <p:cNvSpPr txBox="1"/>
          <p:nvPr/>
        </p:nvSpPr>
        <p:spPr>
          <a:xfrm>
            <a:off x="191911" y="1524867"/>
            <a:ext cx="6799431" cy="3540200"/>
          </a:xfrm>
          <a:prstGeom prst="rect">
            <a:avLst/>
          </a:prstGeom>
          <a:noFill/>
        </p:spPr>
        <p:txBody>
          <a:bodyPr wrap="square">
            <a:spAutoFit/>
          </a:bodyPr>
          <a:lstStyle/>
          <a:p>
            <a:r>
              <a:rPr lang="en-US" dirty="0"/>
              <a:t>The objective of this project is to understand how Hybrid AI can be used to solve EV-related prediction problems by combining Machine Learning models with Conversational AI. Through this project, we learn how to clean datasets, perform advanced feature engineering, and train ML algorithms such as </a:t>
            </a:r>
            <a:r>
              <a:rPr lang="en-US" b="1" dirty="0"/>
              <a:t>Random Forest, </a:t>
            </a:r>
            <a:r>
              <a:rPr lang="en-US" b="1" dirty="0" err="1"/>
              <a:t>XGBoost</a:t>
            </a:r>
            <a:r>
              <a:rPr lang="en-US" b="1" dirty="0"/>
              <a:t>, and Gradient Boosting</a:t>
            </a:r>
            <a:r>
              <a:rPr lang="en-US" dirty="0"/>
              <a:t> for price and range prediction. We also learn how to integrate a </a:t>
            </a:r>
            <a:r>
              <a:rPr lang="en-US" b="1" dirty="0"/>
              <a:t>Generative AI chatbot (</a:t>
            </a:r>
            <a:r>
              <a:rPr lang="en-US" b="1" dirty="0" err="1"/>
              <a:t>DialoGPT</a:t>
            </a:r>
            <a:r>
              <a:rPr lang="en-US" b="1" dirty="0"/>
              <a:t>)</a:t>
            </a:r>
            <a:r>
              <a:rPr lang="en-US" dirty="0"/>
              <a:t> with traditional ML models, enabling an intelligent system that collects user inputs through natural language and generates reliable predictions. Additionally, the project teaches how to build a complete end-to-end application using </a:t>
            </a:r>
            <a:r>
              <a:rPr lang="en-US" dirty="0" err="1"/>
              <a:t>Streamlit</a:t>
            </a:r>
            <a:r>
              <a:rPr lang="en-US" dirty="0"/>
              <a:t>.</a:t>
            </a:r>
            <a:endParaRPr lang="en-IN" dirty="0"/>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4" name="TextBox 3">
            <a:extLst>
              <a:ext uri="{FF2B5EF4-FFF2-40B4-BE49-F238E27FC236}">
                <a16:creationId xmlns:a16="http://schemas.microsoft.com/office/drawing/2014/main" id="{DA4665D8-B6FF-DF12-30D0-BFBC00D0E157}"/>
              </a:ext>
            </a:extLst>
          </p:cNvPr>
          <p:cNvSpPr txBox="1"/>
          <p:nvPr/>
        </p:nvSpPr>
        <p:spPr>
          <a:xfrm>
            <a:off x="441510" y="1564318"/>
            <a:ext cx="11365007" cy="2103589"/>
          </a:xfrm>
          <a:prstGeom prst="rect">
            <a:avLst/>
          </a:prstGeom>
          <a:noFill/>
        </p:spPr>
        <p:txBody>
          <a:bodyPr wrap="square">
            <a:spAutoFit/>
          </a:bodyPr>
          <a:lstStyle/>
          <a:p>
            <a:r>
              <a:rPr lang="en-US" dirty="0" err="1"/>
              <a:t>AIEVCompass</a:t>
            </a:r>
            <a:r>
              <a:rPr lang="en-US" dirty="0"/>
              <a:t> is built using Python as the core development language along with powerful data science libraries like NumPy, Pandas, and Scikit-Learn for processing, modeling, and analysis. The system integrates the </a:t>
            </a:r>
            <a:r>
              <a:rPr lang="en-US" dirty="0" err="1"/>
              <a:t>DialoGPT</a:t>
            </a:r>
            <a:r>
              <a:rPr lang="en-US" dirty="0"/>
              <a:t>-small language model using </a:t>
            </a:r>
            <a:r>
              <a:rPr lang="en-US" dirty="0" err="1"/>
              <a:t>HuggingFace</a:t>
            </a:r>
            <a:r>
              <a:rPr lang="en-US" dirty="0"/>
              <a:t> Transformers and </a:t>
            </a:r>
            <a:r>
              <a:rPr lang="en-US" dirty="0" err="1"/>
              <a:t>PyTorch</a:t>
            </a:r>
            <a:r>
              <a:rPr lang="en-US" dirty="0"/>
              <a:t>, enabling smooth, human-like conversational interactions. </a:t>
            </a:r>
            <a:r>
              <a:rPr lang="en-US" dirty="0" err="1"/>
              <a:t>Streamlit</a:t>
            </a:r>
            <a:r>
              <a:rPr lang="en-US" dirty="0"/>
              <a:t> is used to create a modern, responsive, and simple graphical interface that users can interact with in real time. Development work, experiments, and visualizations were carried out using </a:t>
            </a:r>
            <a:r>
              <a:rPr lang="en-US" dirty="0" err="1"/>
              <a:t>Jupyter</a:t>
            </a:r>
            <a:r>
              <a:rPr lang="en-US" dirty="0"/>
              <a:t> Notebook, Matplotlib, and Seaborn. This combination of tools made it possible to prototype, integrate, test, and deploy a complete AI system efficiently.</a:t>
            </a:r>
            <a:endParaRPr lang="en-IN" dirty="0"/>
          </a:p>
        </p:txBody>
      </p:sp>
      <p:sp>
        <p:nvSpPr>
          <p:cNvPr id="10" name="TextBox 9">
            <a:extLst>
              <a:ext uri="{FF2B5EF4-FFF2-40B4-BE49-F238E27FC236}">
                <a16:creationId xmlns:a16="http://schemas.microsoft.com/office/drawing/2014/main" id="{B22C4C12-9430-1830-0C03-5501B7DBF31D}"/>
              </a:ext>
            </a:extLst>
          </p:cNvPr>
          <p:cNvSpPr txBox="1"/>
          <p:nvPr/>
        </p:nvSpPr>
        <p:spPr>
          <a:xfrm>
            <a:off x="1753720" y="4211165"/>
            <a:ext cx="8684559" cy="954300"/>
          </a:xfrm>
          <a:prstGeom prst="rect">
            <a:avLst/>
          </a:prstGeom>
          <a:noFill/>
        </p:spPr>
        <p:txBody>
          <a:bodyPr wrap="square">
            <a:spAutoFit/>
          </a:bodyPr>
          <a:lstStyle/>
          <a:p>
            <a:r>
              <a:rPr lang="en-IN" dirty="0"/>
              <a:t>Python • NumPy • Pandas • Scikit-Learn • Random Forest • </a:t>
            </a:r>
            <a:r>
              <a:rPr lang="en-IN" dirty="0" err="1"/>
              <a:t>XGBoost</a:t>
            </a:r>
            <a:r>
              <a:rPr lang="en-IN" dirty="0"/>
              <a:t> • Gradient </a:t>
            </a:r>
            <a:r>
              <a:rPr lang="en-IN" dirty="0" err="1"/>
              <a:t>BoostingDialoGPT</a:t>
            </a:r>
            <a:r>
              <a:rPr lang="en-IN" dirty="0"/>
              <a:t>-small • </a:t>
            </a:r>
            <a:r>
              <a:rPr lang="en-IN" dirty="0" err="1"/>
              <a:t>HuggingFace</a:t>
            </a:r>
            <a:r>
              <a:rPr lang="en-IN" dirty="0"/>
              <a:t> Transformers • </a:t>
            </a:r>
            <a:r>
              <a:rPr lang="en-IN" dirty="0" err="1"/>
              <a:t>PyTorch</a:t>
            </a:r>
            <a:r>
              <a:rPr lang="en-IN" dirty="0"/>
              <a:t> (CPU)</a:t>
            </a:r>
            <a:r>
              <a:rPr lang="en-IN" dirty="0" err="1"/>
              <a:t>Streamlit</a:t>
            </a:r>
            <a:r>
              <a:rPr lang="en-IN" dirty="0"/>
              <a:t> • </a:t>
            </a:r>
            <a:r>
              <a:rPr lang="en-IN" dirty="0" err="1"/>
              <a:t>Jupyter</a:t>
            </a:r>
            <a:r>
              <a:rPr lang="en-IN" dirty="0"/>
              <a:t> Notebook • Matplotlib • Seaborn</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4" name="TextBox 3">
            <a:extLst>
              <a:ext uri="{FF2B5EF4-FFF2-40B4-BE49-F238E27FC236}">
                <a16:creationId xmlns:a16="http://schemas.microsoft.com/office/drawing/2014/main" id="{5DBA57B9-E447-7E44-B17C-531EEA8356A7}"/>
              </a:ext>
            </a:extLst>
          </p:cNvPr>
          <p:cNvSpPr txBox="1"/>
          <p:nvPr/>
        </p:nvSpPr>
        <p:spPr>
          <a:xfrm>
            <a:off x="378759" y="1491922"/>
            <a:ext cx="11373970" cy="2103589"/>
          </a:xfrm>
          <a:prstGeom prst="rect">
            <a:avLst/>
          </a:prstGeom>
          <a:noFill/>
        </p:spPr>
        <p:txBody>
          <a:bodyPr wrap="square">
            <a:spAutoFit/>
          </a:bodyPr>
          <a:lstStyle/>
          <a:p>
            <a:r>
              <a:rPr lang="en-US" dirty="0"/>
              <a:t>The methodology begins with dataset cleaning, preprocessing, and extracting meaningful EV-related features. ML models such as </a:t>
            </a:r>
            <a:r>
              <a:rPr lang="en-US" b="1" dirty="0"/>
              <a:t>Random Forest, Gradient Boosting, and </a:t>
            </a:r>
            <a:r>
              <a:rPr lang="en-US" b="1" dirty="0" err="1"/>
              <a:t>XGBoost</a:t>
            </a:r>
            <a:r>
              <a:rPr lang="en-US" dirty="0"/>
              <a:t> were trained using engineered features for predicting price and range with high accuracy. The conversational system was built using </a:t>
            </a:r>
            <a:r>
              <a:rPr lang="en-US" b="1" dirty="0" err="1"/>
              <a:t>DialoGPT</a:t>
            </a:r>
            <a:r>
              <a:rPr lang="en-US" b="1" dirty="0"/>
              <a:t>-small</a:t>
            </a:r>
            <a:r>
              <a:rPr lang="en-US" dirty="0"/>
              <a:t>, which extracts user-provided details through natural language input. These extracted features are fed into the ML models for accurate prediction. The final solution integrates all components into a cohesive </a:t>
            </a:r>
            <a:r>
              <a:rPr lang="en-US" dirty="0" err="1"/>
              <a:t>Streamlit</a:t>
            </a:r>
            <a:r>
              <a:rPr lang="en-US" dirty="0"/>
              <a:t> application, enabling real-time hybrid AI interaction, where the chatbot handles conversation and the ML models handle prediction.</a:t>
            </a:r>
            <a:endParaRPr lang="en-IN" dirty="0"/>
          </a:p>
        </p:txBody>
      </p:sp>
      <p:pic>
        <p:nvPicPr>
          <p:cNvPr id="6" name="Picture 5">
            <a:extLst>
              <a:ext uri="{FF2B5EF4-FFF2-40B4-BE49-F238E27FC236}">
                <a16:creationId xmlns:a16="http://schemas.microsoft.com/office/drawing/2014/main" id="{27579716-BB0F-CCC1-5135-236670E1A43A}"/>
              </a:ext>
            </a:extLst>
          </p:cNvPr>
          <p:cNvPicPr>
            <a:picLocks noChangeAspect="1"/>
          </p:cNvPicPr>
          <p:nvPr/>
        </p:nvPicPr>
        <p:blipFill>
          <a:blip r:embed="rId2"/>
          <a:stretch>
            <a:fillRect/>
          </a:stretch>
        </p:blipFill>
        <p:spPr>
          <a:xfrm>
            <a:off x="268356" y="3672667"/>
            <a:ext cx="3913235" cy="2670154"/>
          </a:xfrm>
          <a:prstGeom prst="rect">
            <a:avLst/>
          </a:prstGeom>
        </p:spPr>
      </p:pic>
      <p:pic>
        <p:nvPicPr>
          <p:cNvPr id="8" name="Picture 7">
            <a:extLst>
              <a:ext uri="{FF2B5EF4-FFF2-40B4-BE49-F238E27FC236}">
                <a16:creationId xmlns:a16="http://schemas.microsoft.com/office/drawing/2014/main" id="{A02F0D18-CF76-96EE-4A99-4178C5C91103}"/>
              </a:ext>
            </a:extLst>
          </p:cNvPr>
          <p:cNvPicPr>
            <a:picLocks noChangeAspect="1"/>
          </p:cNvPicPr>
          <p:nvPr/>
        </p:nvPicPr>
        <p:blipFill>
          <a:blip r:embed="rId3"/>
          <a:stretch>
            <a:fillRect/>
          </a:stretch>
        </p:blipFill>
        <p:spPr>
          <a:xfrm>
            <a:off x="4291019" y="3524934"/>
            <a:ext cx="3913235" cy="3123296"/>
          </a:xfrm>
          <a:prstGeom prst="rect">
            <a:avLst/>
          </a:prstGeom>
        </p:spPr>
      </p:pic>
      <p:pic>
        <p:nvPicPr>
          <p:cNvPr id="10" name="Picture 9">
            <a:extLst>
              <a:ext uri="{FF2B5EF4-FFF2-40B4-BE49-F238E27FC236}">
                <a16:creationId xmlns:a16="http://schemas.microsoft.com/office/drawing/2014/main" id="{331034FD-A82F-57A6-4417-A54A81A08ACB}"/>
              </a:ext>
            </a:extLst>
          </p:cNvPr>
          <p:cNvPicPr>
            <a:picLocks noChangeAspect="1"/>
          </p:cNvPicPr>
          <p:nvPr/>
        </p:nvPicPr>
        <p:blipFill>
          <a:blip r:embed="rId4"/>
          <a:stretch>
            <a:fillRect/>
          </a:stretch>
        </p:blipFill>
        <p:spPr>
          <a:xfrm>
            <a:off x="8093851" y="3502442"/>
            <a:ext cx="3913235" cy="3004319"/>
          </a:xfrm>
          <a:prstGeom prst="rect">
            <a:avLst/>
          </a:prstGeom>
        </p:spPr>
      </p:pic>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4" name="TextBox 3">
            <a:extLst>
              <a:ext uri="{FF2B5EF4-FFF2-40B4-BE49-F238E27FC236}">
                <a16:creationId xmlns:a16="http://schemas.microsoft.com/office/drawing/2014/main" id="{9E9C1B26-8DFC-68D0-248C-356A0301E749}"/>
              </a:ext>
            </a:extLst>
          </p:cNvPr>
          <p:cNvSpPr txBox="1"/>
          <p:nvPr/>
        </p:nvSpPr>
        <p:spPr>
          <a:xfrm>
            <a:off x="255104" y="1546841"/>
            <a:ext cx="11551414" cy="1816266"/>
          </a:xfrm>
          <a:prstGeom prst="rect">
            <a:avLst/>
          </a:prstGeom>
          <a:noFill/>
        </p:spPr>
        <p:txBody>
          <a:bodyPr wrap="square">
            <a:spAutoFit/>
          </a:bodyPr>
          <a:lstStyle/>
          <a:p>
            <a:r>
              <a:rPr lang="en-US" dirty="0"/>
              <a:t>Consumers struggle to estimate the fair price or range of an electric vehicle due to the many technical and performance factors involved. Manufacturers also require tools to analyze potential EV configurations early in development. Existing solutions do not combine </a:t>
            </a:r>
            <a:r>
              <a:rPr lang="en-US" b="1" dirty="0"/>
              <a:t>machine learning models</a:t>
            </a:r>
            <a:r>
              <a:rPr lang="en-US" dirty="0"/>
              <a:t> with </a:t>
            </a:r>
            <a:r>
              <a:rPr lang="en-US" b="1" dirty="0"/>
              <a:t>natural language conversation</a:t>
            </a:r>
            <a:r>
              <a:rPr lang="en-US" dirty="0"/>
              <a:t>, making them either too technical or difficult for general users. There is a need for a user-friendly hybrid AI platform that merges </a:t>
            </a:r>
            <a:r>
              <a:rPr lang="en-US" b="1" dirty="0"/>
              <a:t>Gen AI conversational capability</a:t>
            </a:r>
            <a:r>
              <a:rPr lang="en-US" dirty="0"/>
              <a:t> with </a:t>
            </a:r>
            <a:r>
              <a:rPr lang="en-US" b="1" dirty="0"/>
              <a:t>traditional ML prediction accuracy</a:t>
            </a:r>
            <a:r>
              <a:rPr lang="en-US" dirty="0"/>
              <a:t>.</a:t>
            </a:r>
            <a:endParaRPr lang="en-IN" dirty="0"/>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4" name="TextBox 3">
            <a:extLst>
              <a:ext uri="{FF2B5EF4-FFF2-40B4-BE49-F238E27FC236}">
                <a16:creationId xmlns:a16="http://schemas.microsoft.com/office/drawing/2014/main" id="{86DF7EF3-BB29-59A4-3341-930824110450}"/>
              </a:ext>
            </a:extLst>
          </p:cNvPr>
          <p:cNvSpPr txBox="1"/>
          <p:nvPr/>
        </p:nvSpPr>
        <p:spPr>
          <a:xfrm>
            <a:off x="257248" y="1564093"/>
            <a:ext cx="11728564" cy="1816266"/>
          </a:xfrm>
          <a:prstGeom prst="rect">
            <a:avLst/>
          </a:prstGeom>
          <a:noFill/>
        </p:spPr>
        <p:txBody>
          <a:bodyPr wrap="square">
            <a:spAutoFit/>
          </a:bodyPr>
          <a:lstStyle/>
          <a:p>
            <a:r>
              <a:rPr lang="en-US" dirty="0" err="1"/>
              <a:t>AIEVCompass</a:t>
            </a:r>
            <a:r>
              <a:rPr lang="en-US" dirty="0"/>
              <a:t> solves the problems by integrating a </a:t>
            </a:r>
            <a:r>
              <a:rPr lang="en-US" b="1" dirty="0"/>
              <a:t>Generative AI chatbot</a:t>
            </a:r>
            <a:r>
              <a:rPr lang="en-US" dirty="0"/>
              <a:t> with trained </a:t>
            </a:r>
            <a:r>
              <a:rPr lang="en-US" b="1" dirty="0"/>
              <a:t>ML prediction models</a:t>
            </a:r>
            <a:r>
              <a:rPr lang="en-US" dirty="0"/>
              <a:t>. The chatbot collects all the user and company inputs via natural conversation. These inputs are processed and fed into machine learning models such as </a:t>
            </a:r>
            <a:r>
              <a:rPr lang="en-US" b="1" dirty="0"/>
              <a:t>Random Forest, </a:t>
            </a:r>
            <a:r>
              <a:rPr lang="en-US" b="1" dirty="0" err="1"/>
              <a:t>XGBoost</a:t>
            </a:r>
            <a:r>
              <a:rPr lang="en-US" b="1" dirty="0"/>
              <a:t>, and Gradient Boosting</a:t>
            </a:r>
            <a:r>
              <a:rPr lang="en-US" dirty="0"/>
              <a:t> to produce accurate predictions for EV price, range, and segment classification. This hybrid approach ensures a smart, guided, and highly accurate EV consulting experience where Gen AI handles conversation and ML handles prediction.</a:t>
            </a:r>
          </a:p>
        </p:txBody>
      </p:sp>
      <p:sp>
        <p:nvSpPr>
          <p:cNvPr id="5" name="TextBox 4">
            <a:extLst>
              <a:ext uri="{FF2B5EF4-FFF2-40B4-BE49-F238E27FC236}">
                <a16:creationId xmlns:a16="http://schemas.microsoft.com/office/drawing/2014/main" id="{7BFB1C39-C5E1-1C75-DA9B-4DDF5E75A889}"/>
              </a:ext>
            </a:extLst>
          </p:cNvPr>
          <p:cNvSpPr txBox="1"/>
          <p:nvPr/>
        </p:nvSpPr>
        <p:spPr>
          <a:xfrm>
            <a:off x="1436594" y="1074866"/>
            <a:ext cx="6100482" cy="379656"/>
          </a:xfrm>
          <a:prstGeom prst="rect">
            <a:avLst/>
          </a:prstGeom>
          <a:noFill/>
        </p:spPr>
        <p:txBody>
          <a:bodyPr wrap="square">
            <a:spAutoFit/>
          </a:bodyPr>
          <a:lstStyle/>
          <a:p>
            <a:r>
              <a:rPr lang="en-IN" dirty="0"/>
              <a:t>Hybrid AI Architecture</a:t>
            </a: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6" name="Picture 5">
            <a:extLst>
              <a:ext uri="{FF2B5EF4-FFF2-40B4-BE49-F238E27FC236}">
                <a16:creationId xmlns:a16="http://schemas.microsoft.com/office/drawing/2014/main" id="{6304EB35-5DF9-6166-D7A2-08122C0CB14E}"/>
              </a:ext>
            </a:extLst>
          </p:cNvPr>
          <p:cNvPicPr>
            <a:picLocks noChangeAspect="1"/>
          </p:cNvPicPr>
          <p:nvPr/>
        </p:nvPicPr>
        <p:blipFill>
          <a:blip r:embed="rId2"/>
          <a:stretch>
            <a:fillRect/>
          </a:stretch>
        </p:blipFill>
        <p:spPr>
          <a:xfrm>
            <a:off x="325652" y="1528483"/>
            <a:ext cx="5359677" cy="2433917"/>
          </a:xfrm>
          <a:prstGeom prst="rect">
            <a:avLst/>
          </a:prstGeom>
        </p:spPr>
      </p:pic>
      <p:pic>
        <p:nvPicPr>
          <p:cNvPr id="8" name="Picture 7">
            <a:extLst>
              <a:ext uri="{FF2B5EF4-FFF2-40B4-BE49-F238E27FC236}">
                <a16:creationId xmlns:a16="http://schemas.microsoft.com/office/drawing/2014/main" id="{F03A5982-F4A5-2CAF-50B9-4151DAA9F3A0}"/>
              </a:ext>
            </a:extLst>
          </p:cNvPr>
          <p:cNvPicPr>
            <a:picLocks noChangeAspect="1"/>
          </p:cNvPicPr>
          <p:nvPr/>
        </p:nvPicPr>
        <p:blipFill>
          <a:blip r:embed="rId3"/>
          <a:stretch>
            <a:fillRect/>
          </a:stretch>
        </p:blipFill>
        <p:spPr>
          <a:xfrm>
            <a:off x="6096000" y="1498214"/>
            <a:ext cx="5359677" cy="2464186"/>
          </a:xfrm>
          <a:prstGeom prst="rect">
            <a:avLst/>
          </a:prstGeom>
        </p:spPr>
      </p:pic>
      <p:pic>
        <p:nvPicPr>
          <p:cNvPr id="10" name="Picture 9">
            <a:extLst>
              <a:ext uri="{FF2B5EF4-FFF2-40B4-BE49-F238E27FC236}">
                <a16:creationId xmlns:a16="http://schemas.microsoft.com/office/drawing/2014/main" id="{80C4B42D-DF0A-BEBC-19A4-4A85880C667D}"/>
              </a:ext>
            </a:extLst>
          </p:cNvPr>
          <p:cNvPicPr>
            <a:picLocks noChangeAspect="1"/>
          </p:cNvPicPr>
          <p:nvPr/>
        </p:nvPicPr>
        <p:blipFill>
          <a:blip r:embed="rId4"/>
          <a:stretch>
            <a:fillRect/>
          </a:stretch>
        </p:blipFill>
        <p:spPr>
          <a:xfrm>
            <a:off x="325652" y="4163388"/>
            <a:ext cx="5359677" cy="2428250"/>
          </a:xfrm>
          <a:prstGeom prst="rect">
            <a:avLst/>
          </a:prstGeom>
        </p:spPr>
      </p:pic>
      <p:pic>
        <p:nvPicPr>
          <p:cNvPr id="12" name="Picture 11">
            <a:extLst>
              <a:ext uri="{FF2B5EF4-FFF2-40B4-BE49-F238E27FC236}">
                <a16:creationId xmlns:a16="http://schemas.microsoft.com/office/drawing/2014/main" id="{255BEED7-0D44-1BA8-CD63-6E8D0E974461}"/>
              </a:ext>
            </a:extLst>
          </p:cNvPr>
          <p:cNvPicPr>
            <a:picLocks noChangeAspect="1"/>
          </p:cNvPicPr>
          <p:nvPr/>
        </p:nvPicPr>
        <p:blipFill>
          <a:blip r:embed="rId5"/>
          <a:stretch>
            <a:fillRect/>
          </a:stretch>
        </p:blipFill>
        <p:spPr>
          <a:xfrm>
            <a:off x="6191041" y="4163388"/>
            <a:ext cx="5264636" cy="2428250"/>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4" name="TextBox 3">
            <a:extLst>
              <a:ext uri="{FF2B5EF4-FFF2-40B4-BE49-F238E27FC236}">
                <a16:creationId xmlns:a16="http://schemas.microsoft.com/office/drawing/2014/main" id="{91E6C6F6-3642-994A-FD12-640A31EB6AEB}"/>
              </a:ext>
            </a:extLst>
          </p:cNvPr>
          <p:cNvSpPr txBox="1"/>
          <p:nvPr/>
        </p:nvSpPr>
        <p:spPr>
          <a:xfrm>
            <a:off x="396687" y="1388261"/>
            <a:ext cx="11427759" cy="1528945"/>
          </a:xfrm>
          <a:prstGeom prst="rect">
            <a:avLst/>
          </a:prstGeom>
          <a:noFill/>
        </p:spPr>
        <p:txBody>
          <a:bodyPr wrap="square">
            <a:spAutoFit/>
          </a:bodyPr>
          <a:lstStyle/>
          <a:p>
            <a:r>
              <a:rPr lang="en-US" dirty="0" err="1"/>
              <a:t>AIEVCompass</a:t>
            </a:r>
            <a:r>
              <a:rPr lang="en-US" dirty="0"/>
              <a:t> demonstrates how combining </a:t>
            </a:r>
            <a:r>
              <a:rPr lang="en-US" b="1" dirty="0"/>
              <a:t>Machine Learning models</a:t>
            </a:r>
            <a:r>
              <a:rPr lang="en-US" dirty="0"/>
              <a:t> with </a:t>
            </a:r>
            <a:r>
              <a:rPr lang="en-US" b="1" dirty="0"/>
              <a:t>Generative AI</a:t>
            </a:r>
            <a:r>
              <a:rPr lang="en-US" dirty="0"/>
              <a:t> can produce a powerful and user-friendly EV analytics system. The ML models provide accurate mathematical predictions using advanced algorithms like </a:t>
            </a:r>
            <a:r>
              <a:rPr lang="en-US" b="1" dirty="0"/>
              <a:t>Random Forest and </a:t>
            </a:r>
            <a:r>
              <a:rPr lang="en-US" b="1" dirty="0" err="1"/>
              <a:t>XGBoost</a:t>
            </a:r>
            <a:r>
              <a:rPr lang="en-US" dirty="0"/>
              <a:t>, while the </a:t>
            </a:r>
            <a:r>
              <a:rPr lang="en-US" dirty="0" err="1"/>
              <a:t>DialoGPT</a:t>
            </a:r>
            <a:r>
              <a:rPr lang="en-US" dirty="0"/>
              <a:t> chatbot ensures that users can interact effortlessly through natural language. This hybrid AI design achieves both precision and accessibility, making </a:t>
            </a:r>
            <a:r>
              <a:rPr lang="en-US" dirty="0" err="1"/>
              <a:t>AIEVCompass</a:t>
            </a:r>
            <a:r>
              <a:rPr lang="en-US" dirty="0"/>
              <a:t> a strong example of practical, real-world AI integration.</a:t>
            </a:r>
            <a:endParaRPr lang="en-IN" dirty="0"/>
          </a:p>
        </p:txBody>
      </p:sp>
      <p:sp>
        <p:nvSpPr>
          <p:cNvPr id="6" name="TextBox 5">
            <a:extLst>
              <a:ext uri="{FF2B5EF4-FFF2-40B4-BE49-F238E27FC236}">
                <a16:creationId xmlns:a16="http://schemas.microsoft.com/office/drawing/2014/main" id="{76EE7117-51AC-C6F9-1928-A0C63012196E}"/>
              </a:ext>
            </a:extLst>
          </p:cNvPr>
          <p:cNvSpPr txBox="1"/>
          <p:nvPr/>
        </p:nvSpPr>
        <p:spPr>
          <a:xfrm>
            <a:off x="5184961" y="5869849"/>
            <a:ext cx="6100482" cy="379656"/>
          </a:xfrm>
          <a:prstGeom prst="rect">
            <a:avLst/>
          </a:prstGeom>
          <a:noFill/>
        </p:spPr>
        <p:txBody>
          <a:bodyPr wrap="square">
            <a:spAutoFit/>
          </a:bodyPr>
          <a:lstStyle/>
          <a:p>
            <a:r>
              <a:rPr lang="en-US" dirty="0"/>
              <a:t>Thank You!</a:t>
            </a:r>
            <a:endParaRPr lang="en-IN" dirty="0"/>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79</TotalTime>
  <Words>648</Words>
  <Application>Microsoft Office PowerPoint</Application>
  <PresentationFormat>Widescreen</PresentationFormat>
  <Paragraphs>23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Wingdings</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MAGAPU SAMPATH</cp:lastModifiedBy>
  <cp:revision>13</cp:revision>
  <dcterms:created xsi:type="dcterms:W3CDTF">2024-12-31T09:40:01Z</dcterms:created>
  <dcterms:modified xsi:type="dcterms:W3CDTF">2025-11-13T17:56:41Z</dcterms:modified>
</cp:coreProperties>
</file>